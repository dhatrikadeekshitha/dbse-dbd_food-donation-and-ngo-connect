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3" r:id="rId8"/>
  </p:sldIdLst>
  <p:sldSz cx="18288000" cy="10287000"/>
  <p:notesSz cx="6858000" cy="9144000"/>
  <p:embeddedFontLst>
    <p:embeddedFont>
      <p:font typeface="Heading Now 71-78" panose="020B0604020202020204" charset="0"/>
      <p:regular r:id="rId9"/>
    </p:embeddedFont>
    <p:embeddedFont>
      <p:font typeface="TT Firs Neue" panose="020B0604020202020204" charset="0"/>
      <p:regular r:id="rId10"/>
    </p:embeddedFont>
    <p:embeddedFont>
      <p:font typeface="TT Firs Neue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03173" y="769022"/>
            <a:ext cx="19645520" cy="8713208"/>
            <a:chOff x="0" y="0"/>
            <a:chExt cx="1349773" cy="598653"/>
          </a:xfrm>
        </p:grpSpPr>
        <p:sp>
          <p:nvSpPr>
            <p:cNvPr id="3" name="Freeform 3"/>
            <p:cNvSpPr/>
            <p:nvPr/>
          </p:nvSpPr>
          <p:spPr>
            <a:xfrm>
              <a:off x="6056" y="0"/>
              <a:ext cx="1337660" cy="598653"/>
            </a:xfrm>
            <a:custGeom>
              <a:avLst/>
              <a:gdLst/>
              <a:ahLst/>
              <a:cxnLst/>
              <a:rect l="l" t="t" r="r" b="b"/>
              <a:pathLst>
                <a:path w="1337660" h="598653">
                  <a:moveTo>
                    <a:pt x="1120813" y="0"/>
                  </a:moveTo>
                  <a:lnTo>
                    <a:pt x="216848" y="0"/>
                  </a:lnTo>
                  <a:cubicBezTo>
                    <a:pt x="204523" y="0"/>
                    <a:pt x="192999" y="6105"/>
                    <a:pt x="186077" y="16302"/>
                  </a:cubicBezTo>
                  <a:lnTo>
                    <a:pt x="5011" y="283024"/>
                  </a:lnTo>
                  <a:cubicBezTo>
                    <a:pt x="-1670" y="292866"/>
                    <a:pt x="-1670" y="305787"/>
                    <a:pt x="5011" y="315629"/>
                  </a:cubicBezTo>
                  <a:lnTo>
                    <a:pt x="186077" y="582351"/>
                  </a:lnTo>
                  <a:cubicBezTo>
                    <a:pt x="192999" y="592548"/>
                    <a:pt x="204523" y="598653"/>
                    <a:pt x="216848" y="598653"/>
                  </a:cubicBezTo>
                  <a:lnTo>
                    <a:pt x="1120813" y="598653"/>
                  </a:lnTo>
                  <a:cubicBezTo>
                    <a:pt x="1133137" y="598653"/>
                    <a:pt x="1144661" y="592548"/>
                    <a:pt x="1151584" y="582351"/>
                  </a:cubicBezTo>
                  <a:lnTo>
                    <a:pt x="1332650" y="315629"/>
                  </a:lnTo>
                  <a:cubicBezTo>
                    <a:pt x="1339331" y="305787"/>
                    <a:pt x="1339331" y="292866"/>
                    <a:pt x="1332650" y="283024"/>
                  </a:cubicBezTo>
                  <a:lnTo>
                    <a:pt x="1151584" y="16302"/>
                  </a:lnTo>
                  <a:cubicBezTo>
                    <a:pt x="1144661" y="6105"/>
                    <a:pt x="1133137" y="0"/>
                    <a:pt x="1120813" y="0"/>
                  </a:cubicBezTo>
                  <a:close/>
                </a:path>
              </a:pathLst>
            </a:custGeom>
            <a:solidFill>
              <a:srgbClr val="8B1E1E"/>
            </a:solidFill>
          </p:spPr>
        </p:sp>
        <p:sp>
          <p:nvSpPr>
            <p:cNvPr id="4" name="TextBox 4"/>
            <p:cNvSpPr txBox="1"/>
            <p:nvPr/>
          </p:nvSpPr>
          <p:spPr>
            <a:xfrm>
              <a:off x="152400" y="-47625"/>
              <a:ext cx="1044973" cy="646278"/>
            </a:xfrm>
            <a:prstGeom prst="rect">
              <a:avLst/>
            </a:prstGeom>
          </p:spPr>
          <p:txBody>
            <a:bodyPr lIns="50800" tIns="50800" rIns="50800" bIns="50800" rtlCol="0" anchor="ctr"/>
            <a:lstStyle/>
            <a:p>
              <a:pPr algn="ctr">
                <a:lnSpc>
                  <a:spcPts val="3359"/>
                </a:lnSpc>
              </a:pPr>
              <a:endParaRPr/>
            </a:p>
          </p:txBody>
        </p:sp>
      </p:grpSp>
      <p:sp>
        <p:nvSpPr>
          <p:cNvPr id="5" name="AutoShape 5"/>
          <p:cNvSpPr/>
          <p:nvPr/>
        </p:nvSpPr>
        <p:spPr>
          <a:xfrm>
            <a:off x="1539467" y="6237450"/>
            <a:ext cx="6395487" cy="0"/>
          </a:xfrm>
          <a:prstGeom prst="line">
            <a:avLst/>
          </a:prstGeom>
          <a:ln w="38100" cap="flat">
            <a:solidFill>
              <a:srgbClr val="FFFFFF"/>
            </a:solidFill>
            <a:prstDash val="solid"/>
            <a:headEnd type="none" w="sm" len="sm"/>
            <a:tailEnd type="none" w="sm" len="sm"/>
          </a:ln>
        </p:spPr>
      </p:sp>
      <p:grpSp>
        <p:nvGrpSpPr>
          <p:cNvPr id="6" name="Group 6"/>
          <p:cNvGrpSpPr/>
          <p:nvPr/>
        </p:nvGrpSpPr>
        <p:grpSpPr>
          <a:xfrm>
            <a:off x="14476744" y="0"/>
            <a:ext cx="5565113" cy="672181"/>
            <a:chOff x="0" y="0"/>
            <a:chExt cx="1465709" cy="177035"/>
          </a:xfrm>
        </p:grpSpPr>
        <p:sp>
          <p:nvSpPr>
            <p:cNvPr id="7" name="Freeform 7"/>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8" name="TextBox 8"/>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9" name="Freeform 9"/>
          <p:cNvSpPr/>
          <p:nvPr/>
        </p:nvSpPr>
        <p:spPr>
          <a:xfrm flipV="1">
            <a:off x="10036452" y="539189"/>
            <a:ext cx="1800625" cy="1800625"/>
          </a:xfrm>
          <a:custGeom>
            <a:avLst/>
            <a:gdLst/>
            <a:ahLst/>
            <a:cxnLst/>
            <a:rect l="l" t="t" r="r" b="b"/>
            <a:pathLst>
              <a:path w="1800625" h="1800625">
                <a:moveTo>
                  <a:pt x="0" y="1800626"/>
                </a:moveTo>
                <a:lnTo>
                  <a:pt x="1800625" y="1800626"/>
                </a:lnTo>
                <a:lnTo>
                  <a:pt x="1800625" y="0"/>
                </a:lnTo>
                <a:lnTo>
                  <a:pt x="0" y="0"/>
                </a:lnTo>
                <a:lnTo>
                  <a:pt x="0" y="1800626"/>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6856412" y="6727607"/>
            <a:ext cx="3185444" cy="3197070"/>
          </a:xfrm>
          <a:custGeom>
            <a:avLst/>
            <a:gdLst/>
            <a:ahLst/>
            <a:cxnLst/>
            <a:rect l="l" t="t" r="r" b="b"/>
            <a:pathLst>
              <a:path w="3185444" h="3197070">
                <a:moveTo>
                  <a:pt x="0" y="0"/>
                </a:moveTo>
                <a:lnTo>
                  <a:pt x="3185444" y="0"/>
                </a:lnTo>
                <a:lnTo>
                  <a:pt x="3185444" y="3197069"/>
                </a:lnTo>
                <a:lnTo>
                  <a:pt x="0" y="319706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9693353" y="8604387"/>
            <a:ext cx="2446666" cy="1330375"/>
          </a:xfrm>
          <a:custGeom>
            <a:avLst/>
            <a:gdLst/>
            <a:ahLst/>
            <a:cxnLst/>
            <a:rect l="l" t="t" r="r" b="b"/>
            <a:pathLst>
              <a:path w="2446666" h="1330375">
                <a:moveTo>
                  <a:pt x="0" y="0"/>
                </a:moveTo>
                <a:lnTo>
                  <a:pt x="2446666" y="0"/>
                </a:lnTo>
                <a:lnTo>
                  <a:pt x="2446666" y="1330374"/>
                </a:lnTo>
                <a:lnTo>
                  <a:pt x="0" y="133037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1837077" y="2438704"/>
            <a:ext cx="5985250" cy="4399159"/>
          </a:xfrm>
          <a:custGeom>
            <a:avLst/>
            <a:gdLst/>
            <a:ahLst/>
            <a:cxnLst/>
            <a:rect l="l" t="t" r="r" b="b"/>
            <a:pathLst>
              <a:path w="5985250" h="4399159">
                <a:moveTo>
                  <a:pt x="0" y="0"/>
                </a:moveTo>
                <a:lnTo>
                  <a:pt x="5985250" y="0"/>
                </a:lnTo>
                <a:lnTo>
                  <a:pt x="5985250" y="4399159"/>
                </a:lnTo>
                <a:lnTo>
                  <a:pt x="0" y="4399159"/>
                </a:lnTo>
                <a:lnTo>
                  <a:pt x="0" y="0"/>
                </a:lnTo>
                <a:close/>
              </a:path>
            </a:pathLst>
          </a:custGeom>
          <a:blipFill>
            <a:blip r:embed="rId5"/>
            <a:stretch>
              <a:fillRect/>
            </a:stretch>
          </a:blipFill>
        </p:spPr>
      </p:sp>
      <p:sp>
        <p:nvSpPr>
          <p:cNvPr id="13" name="TextBox 13"/>
          <p:cNvSpPr txBox="1"/>
          <p:nvPr/>
        </p:nvSpPr>
        <p:spPr>
          <a:xfrm>
            <a:off x="1473099" y="3977605"/>
            <a:ext cx="7914884" cy="1925320"/>
          </a:xfrm>
          <a:prstGeom prst="rect">
            <a:avLst/>
          </a:prstGeom>
        </p:spPr>
        <p:txBody>
          <a:bodyPr lIns="0" tIns="0" rIns="0" bIns="0" rtlCol="0" anchor="t">
            <a:spAutoFit/>
          </a:bodyPr>
          <a:lstStyle/>
          <a:p>
            <a:pPr algn="l">
              <a:lnSpc>
                <a:spcPts val="6800"/>
              </a:lnSpc>
            </a:pPr>
            <a:r>
              <a:rPr lang="en-US" sz="6800" spc="-374">
                <a:solidFill>
                  <a:srgbClr val="FFFFFF"/>
                </a:solidFill>
                <a:latin typeface="Heading Now 71-78"/>
                <a:ea typeface="Heading Now 71-78"/>
                <a:cs typeface="Heading Now 71-78"/>
                <a:sym typeface="Heading Now 71-78"/>
              </a:rPr>
              <a:t>Food Donation &amp; NGO Connect App</a:t>
            </a:r>
          </a:p>
        </p:txBody>
      </p:sp>
      <p:sp>
        <p:nvSpPr>
          <p:cNvPr id="14" name="TextBox 14"/>
          <p:cNvSpPr txBox="1"/>
          <p:nvPr/>
        </p:nvSpPr>
        <p:spPr>
          <a:xfrm>
            <a:off x="1539467" y="7171075"/>
            <a:ext cx="4102496" cy="1054100"/>
          </a:xfrm>
          <a:prstGeom prst="rect">
            <a:avLst/>
          </a:prstGeom>
        </p:spPr>
        <p:txBody>
          <a:bodyPr lIns="0" tIns="0" rIns="0" bIns="0" rtlCol="0" anchor="t">
            <a:spAutoFit/>
          </a:bodyPr>
          <a:lstStyle/>
          <a:p>
            <a:pPr algn="l">
              <a:lnSpc>
                <a:spcPts val="2800"/>
              </a:lnSpc>
            </a:pPr>
            <a:r>
              <a:rPr lang="en-US" sz="2000">
                <a:solidFill>
                  <a:srgbClr val="FFFFFF"/>
                </a:solidFill>
                <a:latin typeface="TT Firs Neue"/>
                <a:ea typeface="TT Firs Neue"/>
                <a:cs typeface="TT Firs Neue"/>
                <a:sym typeface="TT Firs Neue"/>
              </a:rPr>
              <a:t>2520030158 - S.Anusha</a:t>
            </a:r>
          </a:p>
          <a:p>
            <a:pPr algn="l">
              <a:lnSpc>
                <a:spcPts val="2800"/>
              </a:lnSpc>
            </a:pPr>
            <a:r>
              <a:rPr lang="en-US" sz="2000">
                <a:solidFill>
                  <a:srgbClr val="FFFFFF"/>
                </a:solidFill>
                <a:latin typeface="TT Firs Neue"/>
                <a:ea typeface="TT Firs Neue"/>
                <a:cs typeface="TT Firs Neue"/>
                <a:sym typeface="TT Firs Neue"/>
              </a:rPr>
              <a:t>2520030161 - M.Srinikitha</a:t>
            </a:r>
          </a:p>
          <a:p>
            <a:pPr algn="l">
              <a:lnSpc>
                <a:spcPts val="2800"/>
              </a:lnSpc>
            </a:pPr>
            <a:r>
              <a:rPr lang="en-US" sz="2000">
                <a:solidFill>
                  <a:srgbClr val="FFFFFF"/>
                </a:solidFill>
                <a:latin typeface="TT Firs Neue"/>
                <a:ea typeface="TT Firs Neue"/>
                <a:cs typeface="TT Firs Neue"/>
                <a:sym typeface="TT Firs Neue"/>
              </a:rPr>
              <a:t>2520030216 - D.Deekshitha</a:t>
            </a:r>
          </a:p>
        </p:txBody>
      </p:sp>
      <p:sp>
        <p:nvSpPr>
          <p:cNvPr id="15" name="TextBox 15"/>
          <p:cNvSpPr txBox="1"/>
          <p:nvPr/>
        </p:nvSpPr>
        <p:spPr>
          <a:xfrm>
            <a:off x="1539467" y="6679982"/>
            <a:ext cx="8153886" cy="405765"/>
          </a:xfrm>
          <a:prstGeom prst="rect">
            <a:avLst/>
          </a:prstGeom>
        </p:spPr>
        <p:txBody>
          <a:bodyPr lIns="0" tIns="0" rIns="0" bIns="0" rtlCol="0" anchor="t">
            <a:spAutoFit/>
          </a:bodyPr>
          <a:lstStyle/>
          <a:p>
            <a:pPr algn="l">
              <a:lnSpc>
                <a:spcPts val="3359"/>
              </a:lnSpc>
            </a:pPr>
            <a:r>
              <a:rPr lang="en-US" sz="2400" b="1">
                <a:solidFill>
                  <a:srgbClr val="FFFFFF"/>
                </a:solidFill>
                <a:latin typeface="TT Firs Neue Bold"/>
                <a:ea typeface="TT Firs Neue Bold"/>
                <a:cs typeface="TT Firs Neue Bold"/>
                <a:sym typeface="TT Firs Neue Bold"/>
              </a:rPr>
              <a:t>Team Members:</a:t>
            </a:r>
          </a:p>
        </p:txBody>
      </p:sp>
      <p:sp>
        <p:nvSpPr>
          <p:cNvPr id="16" name="TextBox 16"/>
          <p:cNvSpPr txBox="1"/>
          <p:nvPr/>
        </p:nvSpPr>
        <p:spPr>
          <a:xfrm>
            <a:off x="1318240" y="2158140"/>
            <a:ext cx="7204483" cy="1243965"/>
          </a:xfrm>
          <a:prstGeom prst="rect">
            <a:avLst/>
          </a:prstGeom>
        </p:spPr>
        <p:txBody>
          <a:bodyPr lIns="0" tIns="0" rIns="0" bIns="0" rtlCol="0" anchor="t">
            <a:spAutoFit/>
          </a:bodyPr>
          <a:lstStyle/>
          <a:p>
            <a:pPr algn="l">
              <a:lnSpc>
                <a:spcPts val="3359"/>
              </a:lnSpc>
            </a:pPr>
            <a:r>
              <a:rPr lang="en-US" sz="2400">
                <a:solidFill>
                  <a:srgbClr val="FFFFFF"/>
                </a:solidFill>
                <a:latin typeface="TT Firs Neue"/>
                <a:ea typeface="TT Firs Neue"/>
                <a:cs typeface="TT Firs Neue"/>
                <a:sym typeface="TT Firs Neue"/>
              </a:rPr>
              <a:t>DATABASE SYSTEMS ENGINEERING AND DISTRIBUTED BACKEND DEVELOPMENT (25CS1302E)</a:t>
            </a:r>
          </a:p>
        </p:txBody>
      </p:sp>
      <p:sp>
        <p:nvSpPr>
          <p:cNvPr id="17" name="TextBox 17"/>
          <p:cNvSpPr txBox="1"/>
          <p:nvPr/>
        </p:nvSpPr>
        <p:spPr>
          <a:xfrm>
            <a:off x="2648947" y="8709162"/>
            <a:ext cx="2195335" cy="349250"/>
          </a:xfrm>
          <a:prstGeom prst="rect">
            <a:avLst/>
          </a:prstGeom>
        </p:spPr>
        <p:txBody>
          <a:bodyPr lIns="0" tIns="0" rIns="0" bIns="0" rtlCol="0" anchor="t">
            <a:spAutoFit/>
          </a:bodyPr>
          <a:lstStyle/>
          <a:p>
            <a:pPr algn="l">
              <a:lnSpc>
                <a:spcPts val="2800"/>
              </a:lnSpc>
            </a:pPr>
            <a:r>
              <a:rPr lang="en-US" sz="2000">
                <a:solidFill>
                  <a:srgbClr val="FFFFFF"/>
                </a:solidFill>
                <a:latin typeface="TT Firs Neue"/>
                <a:ea typeface="TT Firs Neue"/>
                <a:cs typeface="TT Firs Neue"/>
                <a:sym typeface="TT Firs Neue"/>
              </a:rPr>
              <a:t>08</a:t>
            </a:r>
          </a:p>
        </p:txBody>
      </p:sp>
      <p:sp>
        <p:nvSpPr>
          <p:cNvPr id="18" name="TextBox 18"/>
          <p:cNvSpPr txBox="1"/>
          <p:nvPr/>
        </p:nvSpPr>
        <p:spPr>
          <a:xfrm>
            <a:off x="1539467" y="8699637"/>
            <a:ext cx="2195335" cy="349250"/>
          </a:xfrm>
          <a:prstGeom prst="rect">
            <a:avLst/>
          </a:prstGeom>
        </p:spPr>
        <p:txBody>
          <a:bodyPr lIns="0" tIns="0" rIns="0" bIns="0" rtlCol="0" anchor="t">
            <a:spAutoFit/>
          </a:bodyPr>
          <a:lstStyle/>
          <a:p>
            <a:pPr algn="l">
              <a:lnSpc>
                <a:spcPts val="2800"/>
              </a:lnSpc>
            </a:pPr>
            <a:r>
              <a:rPr lang="en-US" sz="2000" b="1">
                <a:solidFill>
                  <a:srgbClr val="FFFFFF"/>
                </a:solidFill>
                <a:latin typeface="TT Firs Neue Bold"/>
                <a:ea typeface="TT Firs Neue Bold"/>
                <a:cs typeface="TT Firs Neue Bold"/>
                <a:sym typeface="TT Firs Neue Bold"/>
              </a:rPr>
              <a:t>Section: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43381" y="3543139"/>
            <a:ext cx="14883224" cy="5859321"/>
            <a:chOff x="0" y="0"/>
            <a:chExt cx="3694293" cy="1454393"/>
          </a:xfrm>
        </p:grpSpPr>
        <p:sp>
          <p:nvSpPr>
            <p:cNvPr id="3" name="Freeform 3"/>
            <p:cNvSpPr/>
            <p:nvPr/>
          </p:nvSpPr>
          <p:spPr>
            <a:xfrm>
              <a:off x="0" y="0"/>
              <a:ext cx="3694293" cy="1454393"/>
            </a:xfrm>
            <a:custGeom>
              <a:avLst/>
              <a:gdLst/>
              <a:ahLst/>
              <a:cxnLst/>
              <a:rect l="l" t="t" r="r" b="b"/>
              <a:pathLst>
                <a:path w="3694293" h="1454393">
                  <a:moveTo>
                    <a:pt x="13004" y="0"/>
                  </a:moveTo>
                  <a:lnTo>
                    <a:pt x="3681289" y="0"/>
                  </a:lnTo>
                  <a:cubicBezTo>
                    <a:pt x="3688471" y="0"/>
                    <a:pt x="3694293" y="5822"/>
                    <a:pt x="3694293" y="13004"/>
                  </a:cubicBezTo>
                  <a:lnTo>
                    <a:pt x="3694293" y="1441388"/>
                  </a:lnTo>
                  <a:cubicBezTo>
                    <a:pt x="3694293" y="1448570"/>
                    <a:pt x="3688471" y="1454393"/>
                    <a:pt x="3681289" y="1454393"/>
                  </a:cubicBezTo>
                  <a:lnTo>
                    <a:pt x="13004" y="1454393"/>
                  </a:lnTo>
                  <a:cubicBezTo>
                    <a:pt x="9555" y="1454393"/>
                    <a:pt x="6248" y="1453023"/>
                    <a:pt x="3809" y="1450584"/>
                  </a:cubicBezTo>
                  <a:cubicBezTo>
                    <a:pt x="1370" y="1448145"/>
                    <a:pt x="0" y="1444837"/>
                    <a:pt x="0" y="1441388"/>
                  </a:cubicBezTo>
                  <a:lnTo>
                    <a:pt x="0" y="13004"/>
                  </a:lnTo>
                  <a:cubicBezTo>
                    <a:pt x="0" y="5822"/>
                    <a:pt x="5822" y="0"/>
                    <a:pt x="13004" y="0"/>
                  </a:cubicBezTo>
                  <a:close/>
                </a:path>
              </a:pathLst>
            </a:custGeom>
            <a:solidFill>
              <a:srgbClr val="FFE9E9"/>
            </a:solidFill>
            <a:ln cap="rnd">
              <a:noFill/>
              <a:prstDash val="solid"/>
              <a:round/>
            </a:ln>
          </p:spPr>
        </p:sp>
        <p:sp>
          <p:nvSpPr>
            <p:cNvPr id="4" name="TextBox 4"/>
            <p:cNvSpPr txBox="1"/>
            <p:nvPr/>
          </p:nvSpPr>
          <p:spPr>
            <a:xfrm>
              <a:off x="0" y="-47625"/>
              <a:ext cx="3694293" cy="1502018"/>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4476744" y="9614819"/>
            <a:ext cx="5565113" cy="672181"/>
            <a:chOff x="0" y="0"/>
            <a:chExt cx="1465709" cy="177035"/>
          </a:xfrm>
        </p:grpSpPr>
        <p:sp>
          <p:nvSpPr>
            <p:cNvPr id="6" name="Freeform 6"/>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7" name="TextBox 7"/>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8" name="Group 8"/>
          <p:cNvGrpSpPr/>
          <p:nvPr/>
        </p:nvGrpSpPr>
        <p:grpSpPr>
          <a:xfrm>
            <a:off x="-2488981" y="261269"/>
            <a:ext cx="5565113" cy="672181"/>
            <a:chOff x="0" y="0"/>
            <a:chExt cx="1465709" cy="177035"/>
          </a:xfrm>
        </p:grpSpPr>
        <p:sp>
          <p:nvSpPr>
            <p:cNvPr id="9" name="Freeform 9"/>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10" name="TextBox 10"/>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11" name="Freeform 11"/>
          <p:cNvSpPr/>
          <p:nvPr/>
        </p:nvSpPr>
        <p:spPr>
          <a:xfrm>
            <a:off x="16321634" y="4468941"/>
            <a:ext cx="4120272" cy="4135310"/>
          </a:xfrm>
          <a:custGeom>
            <a:avLst/>
            <a:gdLst/>
            <a:ahLst/>
            <a:cxnLst/>
            <a:rect l="l" t="t" r="r" b="b"/>
            <a:pathLst>
              <a:path w="4120272" h="4135310">
                <a:moveTo>
                  <a:pt x="0" y="0"/>
                </a:moveTo>
                <a:lnTo>
                  <a:pt x="4120272" y="0"/>
                </a:lnTo>
                <a:lnTo>
                  <a:pt x="4120272" y="4135309"/>
                </a:lnTo>
                <a:lnTo>
                  <a:pt x="0" y="413530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TextBox 12"/>
          <p:cNvSpPr txBox="1"/>
          <p:nvPr/>
        </p:nvSpPr>
        <p:spPr>
          <a:xfrm>
            <a:off x="1982124" y="4073769"/>
            <a:ext cx="13716118" cy="4612641"/>
          </a:xfrm>
          <a:prstGeom prst="rect">
            <a:avLst/>
          </a:prstGeom>
        </p:spPr>
        <p:txBody>
          <a:bodyPr lIns="0" tIns="0" rIns="0" bIns="0" rtlCol="0" anchor="t">
            <a:spAutoFit/>
          </a:bodyPr>
          <a:lstStyle/>
          <a:p>
            <a:pPr algn="just">
              <a:lnSpc>
                <a:spcPts val="4059"/>
              </a:lnSpc>
            </a:pPr>
            <a:r>
              <a:rPr lang="en-US" sz="2899">
                <a:solidFill>
                  <a:srgbClr val="231F20"/>
                </a:solidFill>
                <a:latin typeface="TT Firs Neue"/>
                <a:ea typeface="TT Firs Neue"/>
                <a:cs typeface="TT Firs Neue"/>
                <a:sym typeface="TT Firs Neue"/>
              </a:rPr>
              <a:t>The Food Donation &amp; NGO Connect App is a full-stack application designed to reduce food wastage by connecting food donors such as households, restaurants, and organizations with NGOs. The application allows donors to share details about surplus food, including its type, quantity, location, and availability, while NGOs can view suitable donations and manage donation requests. The system uses databases, REST APIs, authentication, and a microservices-oriented approach to provide a scalable and reliable platform. The main aim is to improve coordination and ensure the timely distribution of surplus food to people in need.</a:t>
            </a:r>
          </a:p>
        </p:txBody>
      </p:sp>
      <p:sp>
        <p:nvSpPr>
          <p:cNvPr id="13" name="TextBox 13"/>
          <p:cNvSpPr txBox="1"/>
          <p:nvPr/>
        </p:nvSpPr>
        <p:spPr>
          <a:xfrm>
            <a:off x="1543381" y="1466797"/>
            <a:ext cx="7344046" cy="1068070"/>
          </a:xfrm>
          <a:prstGeom prst="rect">
            <a:avLst/>
          </a:prstGeom>
        </p:spPr>
        <p:txBody>
          <a:bodyPr lIns="0" tIns="0" rIns="0" bIns="0" rtlCol="0" anchor="t">
            <a:spAutoFit/>
          </a:bodyPr>
          <a:lstStyle/>
          <a:p>
            <a:pPr algn="l">
              <a:lnSpc>
                <a:spcPts val="6800"/>
              </a:lnSpc>
            </a:pPr>
            <a:r>
              <a:rPr lang="en-US" sz="6800" spc="-374">
                <a:solidFill>
                  <a:srgbClr val="231F20"/>
                </a:solidFill>
                <a:latin typeface="Heading Now 71-78"/>
                <a:ea typeface="Heading Now 71-78"/>
                <a:cs typeface="Heading Now 71-78"/>
                <a:sym typeface="Heading Now 71-78"/>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49233" y="3592383"/>
            <a:ext cx="14488616" cy="5506476"/>
            <a:chOff x="0" y="0"/>
            <a:chExt cx="3596344" cy="1366810"/>
          </a:xfrm>
        </p:grpSpPr>
        <p:sp>
          <p:nvSpPr>
            <p:cNvPr id="3" name="Freeform 3"/>
            <p:cNvSpPr/>
            <p:nvPr/>
          </p:nvSpPr>
          <p:spPr>
            <a:xfrm>
              <a:off x="0" y="0"/>
              <a:ext cx="3596344" cy="1366810"/>
            </a:xfrm>
            <a:custGeom>
              <a:avLst/>
              <a:gdLst/>
              <a:ahLst/>
              <a:cxnLst/>
              <a:rect l="l" t="t" r="r" b="b"/>
              <a:pathLst>
                <a:path w="3596344" h="1366810">
                  <a:moveTo>
                    <a:pt x="10687" y="0"/>
                  </a:moveTo>
                  <a:lnTo>
                    <a:pt x="3585657" y="0"/>
                  </a:lnTo>
                  <a:cubicBezTo>
                    <a:pt x="3591560" y="0"/>
                    <a:pt x="3596344" y="4785"/>
                    <a:pt x="3596344" y="10687"/>
                  </a:cubicBezTo>
                  <a:lnTo>
                    <a:pt x="3596344" y="1356123"/>
                  </a:lnTo>
                  <a:cubicBezTo>
                    <a:pt x="3596344" y="1358958"/>
                    <a:pt x="3595219" y="1361676"/>
                    <a:pt x="3593214" y="1363680"/>
                  </a:cubicBezTo>
                  <a:cubicBezTo>
                    <a:pt x="3591210" y="1365684"/>
                    <a:pt x="3588492" y="1366810"/>
                    <a:pt x="3585657" y="1366810"/>
                  </a:cubicBezTo>
                  <a:lnTo>
                    <a:pt x="10687" y="1366810"/>
                  </a:lnTo>
                  <a:cubicBezTo>
                    <a:pt x="7853" y="1366810"/>
                    <a:pt x="5134" y="1365684"/>
                    <a:pt x="3130" y="1363680"/>
                  </a:cubicBezTo>
                  <a:cubicBezTo>
                    <a:pt x="1126" y="1361676"/>
                    <a:pt x="0" y="1358958"/>
                    <a:pt x="0" y="1356123"/>
                  </a:cubicBezTo>
                  <a:lnTo>
                    <a:pt x="0" y="10687"/>
                  </a:lnTo>
                  <a:cubicBezTo>
                    <a:pt x="0" y="7853"/>
                    <a:pt x="1126" y="5134"/>
                    <a:pt x="3130" y="3130"/>
                  </a:cubicBezTo>
                  <a:cubicBezTo>
                    <a:pt x="5134" y="1126"/>
                    <a:pt x="7853" y="0"/>
                    <a:pt x="10687" y="0"/>
                  </a:cubicBezTo>
                  <a:close/>
                </a:path>
              </a:pathLst>
            </a:custGeom>
            <a:solidFill>
              <a:srgbClr val="FFE9E9"/>
            </a:solidFill>
            <a:ln cap="sq">
              <a:noFill/>
              <a:prstDash val="solid"/>
              <a:miter/>
            </a:ln>
          </p:spPr>
        </p:sp>
        <p:sp>
          <p:nvSpPr>
            <p:cNvPr id="4" name="TextBox 4"/>
            <p:cNvSpPr txBox="1"/>
            <p:nvPr/>
          </p:nvSpPr>
          <p:spPr>
            <a:xfrm>
              <a:off x="0" y="-47625"/>
              <a:ext cx="3596344" cy="1414435"/>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249233" y="1166764"/>
            <a:ext cx="6278221" cy="1925320"/>
          </a:xfrm>
          <a:prstGeom prst="rect">
            <a:avLst/>
          </a:prstGeom>
        </p:spPr>
        <p:txBody>
          <a:bodyPr lIns="0" tIns="0" rIns="0" bIns="0" rtlCol="0" anchor="t">
            <a:spAutoFit/>
          </a:bodyPr>
          <a:lstStyle/>
          <a:p>
            <a:pPr algn="l">
              <a:lnSpc>
                <a:spcPts val="6800"/>
              </a:lnSpc>
            </a:pPr>
            <a:r>
              <a:rPr lang="en-US" sz="6800" spc="-374">
                <a:solidFill>
                  <a:srgbClr val="231F20"/>
                </a:solidFill>
                <a:latin typeface="Heading Now 71-78"/>
                <a:ea typeface="Heading Now 71-78"/>
                <a:cs typeface="Heading Now 71-78"/>
                <a:sym typeface="Heading Now 71-78"/>
              </a:rPr>
              <a:t>PROBLEM</a:t>
            </a:r>
          </a:p>
          <a:p>
            <a:pPr algn="l">
              <a:lnSpc>
                <a:spcPts val="6800"/>
              </a:lnSpc>
            </a:pPr>
            <a:r>
              <a:rPr lang="en-US" sz="6800" spc="-374">
                <a:solidFill>
                  <a:srgbClr val="231F20"/>
                </a:solidFill>
                <a:latin typeface="Heading Now 71-78"/>
                <a:ea typeface="Heading Now 71-78"/>
                <a:cs typeface="Heading Now 71-78"/>
                <a:sym typeface="Heading Now 71-78"/>
              </a:rPr>
              <a:t>STATEMENT</a:t>
            </a:r>
          </a:p>
        </p:txBody>
      </p:sp>
      <p:sp>
        <p:nvSpPr>
          <p:cNvPr id="6" name="TextBox 6"/>
          <p:cNvSpPr txBox="1"/>
          <p:nvPr/>
        </p:nvSpPr>
        <p:spPr>
          <a:xfrm>
            <a:off x="1502834" y="3909972"/>
            <a:ext cx="13848784" cy="5434330"/>
          </a:xfrm>
          <a:prstGeom prst="rect">
            <a:avLst/>
          </a:prstGeom>
        </p:spPr>
        <p:txBody>
          <a:bodyPr lIns="0" tIns="0" rIns="0" bIns="0" rtlCol="0" anchor="t">
            <a:spAutoFit/>
          </a:bodyPr>
          <a:lstStyle/>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Food wastage is a major issue, while many people are still in need of food.</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There is a lack of an efficient platform connecting food donors with NGOs.</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Donors often face difficulties in sharing information about surplus food, quantity, location, and availability.</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NGOs may struggle to identify suitable food donations and manage requests efficiently.</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Lack of proper coordination can lead to delays in collecting and distributing surplus food.</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Therefore, a centralized and reliable application is needed to improve coordination and ensure surplus food reaches people in need on time.</a:t>
            </a:r>
          </a:p>
          <a:p>
            <a:pPr algn="just">
              <a:lnSpc>
                <a:spcPts val="3919"/>
              </a:lnSpc>
            </a:pPr>
            <a:endParaRPr lang="en-US" sz="2799" dirty="0">
              <a:solidFill>
                <a:srgbClr val="231F20"/>
              </a:solidFill>
              <a:latin typeface="TT Firs Neue"/>
              <a:ea typeface="TT Firs Neue"/>
              <a:cs typeface="TT Firs Neue"/>
              <a:sym typeface="TT Firs Neue"/>
            </a:endParaRPr>
          </a:p>
        </p:txBody>
      </p:sp>
      <p:grpSp>
        <p:nvGrpSpPr>
          <p:cNvPr id="7" name="Group 7"/>
          <p:cNvGrpSpPr/>
          <p:nvPr/>
        </p:nvGrpSpPr>
        <p:grpSpPr>
          <a:xfrm>
            <a:off x="14476744" y="0"/>
            <a:ext cx="5565113" cy="672181"/>
            <a:chOff x="0" y="0"/>
            <a:chExt cx="1465709" cy="177035"/>
          </a:xfrm>
        </p:grpSpPr>
        <p:sp>
          <p:nvSpPr>
            <p:cNvPr id="8" name="Freeform 8"/>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9" name="TextBox 9"/>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10" name="Group 10"/>
          <p:cNvGrpSpPr/>
          <p:nvPr/>
        </p:nvGrpSpPr>
        <p:grpSpPr>
          <a:xfrm>
            <a:off x="-1753856" y="9614819"/>
            <a:ext cx="5565113" cy="672181"/>
            <a:chOff x="0" y="0"/>
            <a:chExt cx="1465709" cy="177035"/>
          </a:xfrm>
        </p:grpSpPr>
        <p:sp>
          <p:nvSpPr>
            <p:cNvPr id="11" name="Freeform 11"/>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12" name="TextBox 12"/>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13" name="Freeform 13"/>
          <p:cNvSpPr/>
          <p:nvPr/>
        </p:nvSpPr>
        <p:spPr>
          <a:xfrm flipV="1">
            <a:off x="15937118" y="1536901"/>
            <a:ext cx="1800625" cy="1800625"/>
          </a:xfrm>
          <a:custGeom>
            <a:avLst/>
            <a:gdLst/>
            <a:ahLst/>
            <a:cxnLst/>
            <a:rect l="l" t="t" r="r" b="b"/>
            <a:pathLst>
              <a:path w="1800625" h="1800625">
                <a:moveTo>
                  <a:pt x="0" y="1800625"/>
                </a:moveTo>
                <a:lnTo>
                  <a:pt x="1800625" y="1800625"/>
                </a:lnTo>
                <a:lnTo>
                  <a:pt x="1800625" y="0"/>
                </a:lnTo>
                <a:lnTo>
                  <a:pt x="0" y="0"/>
                </a:lnTo>
                <a:lnTo>
                  <a:pt x="0" y="1800625"/>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476744" y="0"/>
            <a:ext cx="5565113" cy="672181"/>
            <a:chOff x="0" y="0"/>
            <a:chExt cx="1465709" cy="177035"/>
          </a:xfrm>
        </p:grpSpPr>
        <p:sp>
          <p:nvSpPr>
            <p:cNvPr id="3" name="Freeform 3"/>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4" name="TextBox 4"/>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5" name="Group 5"/>
          <p:cNvGrpSpPr/>
          <p:nvPr/>
        </p:nvGrpSpPr>
        <p:grpSpPr>
          <a:xfrm>
            <a:off x="-1753856" y="9614819"/>
            <a:ext cx="5565113" cy="672181"/>
            <a:chOff x="0" y="0"/>
            <a:chExt cx="1465709" cy="177035"/>
          </a:xfrm>
        </p:grpSpPr>
        <p:sp>
          <p:nvSpPr>
            <p:cNvPr id="6" name="Freeform 6"/>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7" name="TextBox 7"/>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8" name="Freeform 8"/>
          <p:cNvSpPr/>
          <p:nvPr/>
        </p:nvSpPr>
        <p:spPr>
          <a:xfrm flipV="1">
            <a:off x="363874" y="7568130"/>
            <a:ext cx="1800625" cy="1800625"/>
          </a:xfrm>
          <a:custGeom>
            <a:avLst/>
            <a:gdLst/>
            <a:ahLst/>
            <a:cxnLst/>
            <a:rect l="l" t="t" r="r" b="b"/>
            <a:pathLst>
              <a:path w="1800625" h="1800625">
                <a:moveTo>
                  <a:pt x="0" y="1800626"/>
                </a:moveTo>
                <a:lnTo>
                  <a:pt x="1800626" y="1800626"/>
                </a:lnTo>
                <a:lnTo>
                  <a:pt x="1800626" y="0"/>
                </a:lnTo>
                <a:lnTo>
                  <a:pt x="0" y="0"/>
                </a:lnTo>
                <a:lnTo>
                  <a:pt x="0" y="1800626"/>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5125150" y="8593113"/>
            <a:ext cx="2446666" cy="1330375"/>
          </a:xfrm>
          <a:custGeom>
            <a:avLst/>
            <a:gdLst/>
            <a:ahLst/>
            <a:cxnLst/>
            <a:rect l="l" t="t" r="r" b="b"/>
            <a:pathLst>
              <a:path w="2446666" h="1330375">
                <a:moveTo>
                  <a:pt x="0" y="0"/>
                </a:moveTo>
                <a:lnTo>
                  <a:pt x="2446666" y="0"/>
                </a:lnTo>
                <a:lnTo>
                  <a:pt x="2446666" y="1330374"/>
                </a:lnTo>
                <a:lnTo>
                  <a:pt x="0" y="13303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4068863" y="1753057"/>
            <a:ext cx="10252256" cy="7413109"/>
          </a:xfrm>
          <a:custGeom>
            <a:avLst/>
            <a:gdLst/>
            <a:ahLst/>
            <a:cxnLst/>
            <a:rect l="l" t="t" r="r" b="b"/>
            <a:pathLst>
              <a:path w="10252256" h="7413109">
                <a:moveTo>
                  <a:pt x="0" y="0"/>
                </a:moveTo>
                <a:lnTo>
                  <a:pt x="10252256" y="0"/>
                </a:lnTo>
                <a:lnTo>
                  <a:pt x="10252256" y="7413109"/>
                </a:lnTo>
                <a:lnTo>
                  <a:pt x="0" y="7413109"/>
                </a:lnTo>
                <a:lnTo>
                  <a:pt x="0" y="0"/>
                </a:lnTo>
                <a:close/>
              </a:path>
            </a:pathLst>
          </a:custGeom>
          <a:blipFill>
            <a:blip r:embed="rId4"/>
            <a:stretch>
              <a:fillRect l="-6871" t="-2999" r="-7842" b="-2834"/>
            </a:stretch>
          </a:blipFill>
        </p:spPr>
      </p:sp>
      <p:sp>
        <p:nvSpPr>
          <p:cNvPr id="11" name="TextBox 11"/>
          <p:cNvSpPr txBox="1"/>
          <p:nvPr/>
        </p:nvSpPr>
        <p:spPr>
          <a:xfrm>
            <a:off x="620990" y="297990"/>
            <a:ext cx="13855754" cy="1068070"/>
          </a:xfrm>
          <a:prstGeom prst="rect">
            <a:avLst/>
          </a:prstGeom>
        </p:spPr>
        <p:txBody>
          <a:bodyPr lIns="0" tIns="0" rIns="0" bIns="0" rtlCol="0" anchor="t">
            <a:spAutoFit/>
          </a:bodyPr>
          <a:lstStyle/>
          <a:p>
            <a:pPr algn="l">
              <a:lnSpc>
                <a:spcPts val="6800"/>
              </a:lnSpc>
            </a:pPr>
            <a:r>
              <a:rPr lang="en-US" sz="6800" spc="-374">
                <a:solidFill>
                  <a:srgbClr val="231F20"/>
                </a:solidFill>
                <a:latin typeface="Heading Now 71-78"/>
                <a:ea typeface="Heading Now 71-78"/>
                <a:cs typeface="Heading Now 71-78"/>
                <a:sym typeface="Heading Now 71-78"/>
              </a:rPr>
              <a:t>EXISTING VS PROPOSED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0832" y="1058482"/>
            <a:ext cx="15027422" cy="1068070"/>
          </a:xfrm>
          <a:prstGeom prst="rect">
            <a:avLst/>
          </a:prstGeom>
        </p:spPr>
        <p:txBody>
          <a:bodyPr lIns="0" tIns="0" rIns="0" bIns="0" rtlCol="0" anchor="t">
            <a:spAutoFit/>
          </a:bodyPr>
          <a:lstStyle/>
          <a:p>
            <a:pPr algn="l">
              <a:lnSpc>
                <a:spcPts val="6800"/>
              </a:lnSpc>
            </a:pPr>
            <a:r>
              <a:rPr lang="en-US" sz="6800" spc="-374" dirty="0">
                <a:solidFill>
                  <a:srgbClr val="231F20"/>
                </a:solidFill>
                <a:latin typeface="Heading Now 71-78"/>
                <a:ea typeface="Heading Now 71-78"/>
                <a:cs typeface="Heading Now 71-78"/>
                <a:sym typeface="Heading Now 71-78"/>
              </a:rPr>
              <a:t>PROPOSED SYSTEM ARCHITECTURE</a:t>
            </a:r>
          </a:p>
        </p:txBody>
      </p:sp>
      <p:grpSp>
        <p:nvGrpSpPr>
          <p:cNvPr id="3" name="Group 3"/>
          <p:cNvGrpSpPr/>
          <p:nvPr/>
        </p:nvGrpSpPr>
        <p:grpSpPr>
          <a:xfrm>
            <a:off x="14630400" y="9621301"/>
            <a:ext cx="5565113" cy="672181"/>
            <a:chOff x="0" y="0"/>
            <a:chExt cx="1465709" cy="177035"/>
          </a:xfrm>
        </p:grpSpPr>
        <p:sp>
          <p:nvSpPr>
            <p:cNvPr id="4" name="Freeform 4"/>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5" name="TextBox 5"/>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6" name="Group 6"/>
          <p:cNvGrpSpPr/>
          <p:nvPr/>
        </p:nvGrpSpPr>
        <p:grpSpPr>
          <a:xfrm>
            <a:off x="-2488981" y="261269"/>
            <a:ext cx="5565113" cy="672181"/>
            <a:chOff x="0" y="0"/>
            <a:chExt cx="1465709" cy="177035"/>
          </a:xfrm>
        </p:grpSpPr>
        <p:sp>
          <p:nvSpPr>
            <p:cNvPr id="7" name="Freeform 7"/>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8" name="TextBox 8"/>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pic>
        <p:nvPicPr>
          <p:cNvPr id="14" name="Picture 13">
            <a:extLst>
              <a:ext uri="{FF2B5EF4-FFF2-40B4-BE49-F238E27FC236}">
                <a16:creationId xmlns:a16="http://schemas.microsoft.com/office/drawing/2014/main" id="{00CED806-585E-D0A0-B6F7-E351DD931D70}"/>
              </a:ext>
            </a:extLst>
          </p:cNvPr>
          <p:cNvPicPr>
            <a:picLocks noChangeAspect="1"/>
          </p:cNvPicPr>
          <p:nvPr/>
        </p:nvPicPr>
        <p:blipFill>
          <a:blip r:embed="rId2"/>
          <a:stretch>
            <a:fillRect/>
          </a:stretch>
        </p:blipFill>
        <p:spPr>
          <a:xfrm>
            <a:off x="2362200" y="1944420"/>
            <a:ext cx="12268200" cy="78254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785" y="2631451"/>
            <a:ext cx="14225305" cy="6382678"/>
            <a:chOff x="0" y="0"/>
            <a:chExt cx="3530986" cy="1584300"/>
          </a:xfrm>
        </p:grpSpPr>
        <p:sp>
          <p:nvSpPr>
            <p:cNvPr id="3" name="Freeform 3"/>
            <p:cNvSpPr/>
            <p:nvPr/>
          </p:nvSpPr>
          <p:spPr>
            <a:xfrm>
              <a:off x="0" y="0"/>
              <a:ext cx="3530986" cy="1584300"/>
            </a:xfrm>
            <a:custGeom>
              <a:avLst/>
              <a:gdLst/>
              <a:ahLst/>
              <a:cxnLst/>
              <a:rect l="l" t="t" r="r" b="b"/>
              <a:pathLst>
                <a:path w="3530986" h="1584300">
                  <a:moveTo>
                    <a:pt x="10885" y="0"/>
                  </a:moveTo>
                  <a:lnTo>
                    <a:pt x="3520101" y="0"/>
                  </a:lnTo>
                  <a:cubicBezTo>
                    <a:pt x="3522988" y="0"/>
                    <a:pt x="3525756" y="1147"/>
                    <a:pt x="3527797" y="3188"/>
                  </a:cubicBezTo>
                  <a:cubicBezTo>
                    <a:pt x="3529839" y="5229"/>
                    <a:pt x="3530986" y="7998"/>
                    <a:pt x="3530986" y="10885"/>
                  </a:cubicBezTo>
                  <a:lnTo>
                    <a:pt x="3530986" y="1573415"/>
                  </a:lnTo>
                  <a:cubicBezTo>
                    <a:pt x="3530986" y="1576302"/>
                    <a:pt x="3529839" y="1579070"/>
                    <a:pt x="3527797" y="1581111"/>
                  </a:cubicBezTo>
                  <a:cubicBezTo>
                    <a:pt x="3525756" y="1583153"/>
                    <a:pt x="3522988" y="1584300"/>
                    <a:pt x="3520101" y="1584300"/>
                  </a:cubicBezTo>
                  <a:lnTo>
                    <a:pt x="10885" y="1584300"/>
                  </a:lnTo>
                  <a:cubicBezTo>
                    <a:pt x="7998" y="1584300"/>
                    <a:pt x="5229" y="1583153"/>
                    <a:pt x="3188" y="1581111"/>
                  </a:cubicBezTo>
                  <a:cubicBezTo>
                    <a:pt x="1147" y="1579070"/>
                    <a:pt x="0" y="1576302"/>
                    <a:pt x="0" y="1573415"/>
                  </a:cubicBezTo>
                  <a:lnTo>
                    <a:pt x="0" y="10885"/>
                  </a:lnTo>
                  <a:cubicBezTo>
                    <a:pt x="0" y="7998"/>
                    <a:pt x="1147" y="5229"/>
                    <a:pt x="3188" y="3188"/>
                  </a:cubicBezTo>
                  <a:cubicBezTo>
                    <a:pt x="5229" y="1147"/>
                    <a:pt x="7998" y="0"/>
                    <a:pt x="10885" y="0"/>
                  </a:cubicBezTo>
                  <a:close/>
                </a:path>
              </a:pathLst>
            </a:custGeom>
            <a:solidFill>
              <a:srgbClr val="FFE9E9"/>
            </a:solidFill>
            <a:ln cap="sq">
              <a:noFill/>
              <a:prstDash val="solid"/>
              <a:miter/>
            </a:ln>
          </p:spPr>
        </p:sp>
        <p:sp>
          <p:nvSpPr>
            <p:cNvPr id="4" name="TextBox 4"/>
            <p:cNvSpPr txBox="1"/>
            <p:nvPr/>
          </p:nvSpPr>
          <p:spPr>
            <a:xfrm>
              <a:off x="0" y="-47625"/>
              <a:ext cx="3530986" cy="1631925"/>
            </a:xfrm>
            <a:prstGeom prst="rect">
              <a:avLst/>
            </a:prstGeom>
          </p:spPr>
          <p:txBody>
            <a:bodyPr lIns="50800" tIns="50800" rIns="50800" bIns="50800" rtlCol="0" anchor="ctr"/>
            <a:lstStyle/>
            <a:p>
              <a:pPr algn="ctr">
                <a:lnSpc>
                  <a:spcPts val="3359"/>
                </a:lnSpc>
              </a:pPr>
              <a:endParaRPr/>
            </a:p>
          </p:txBody>
        </p:sp>
      </p:grpSp>
      <p:sp>
        <p:nvSpPr>
          <p:cNvPr id="5" name="TextBox 5"/>
          <p:cNvSpPr txBox="1"/>
          <p:nvPr/>
        </p:nvSpPr>
        <p:spPr>
          <a:xfrm>
            <a:off x="1156069" y="962689"/>
            <a:ext cx="6278221" cy="1068070"/>
          </a:xfrm>
          <a:prstGeom prst="rect">
            <a:avLst/>
          </a:prstGeom>
        </p:spPr>
        <p:txBody>
          <a:bodyPr lIns="0" tIns="0" rIns="0" bIns="0" rtlCol="0" anchor="t">
            <a:spAutoFit/>
          </a:bodyPr>
          <a:lstStyle/>
          <a:p>
            <a:pPr algn="l">
              <a:lnSpc>
                <a:spcPts val="6800"/>
              </a:lnSpc>
            </a:pPr>
            <a:r>
              <a:rPr lang="en-US" sz="6800" spc="-374">
                <a:solidFill>
                  <a:srgbClr val="231F20"/>
                </a:solidFill>
                <a:latin typeface="Heading Now 71-78"/>
                <a:ea typeface="Heading Now 71-78"/>
                <a:cs typeface="Heading Now 71-78"/>
                <a:sym typeface="Heading Now 71-78"/>
              </a:rPr>
              <a:t>TOOLS</a:t>
            </a:r>
          </a:p>
        </p:txBody>
      </p:sp>
      <p:sp>
        <p:nvSpPr>
          <p:cNvPr id="6" name="TextBox 6"/>
          <p:cNvSpPr txBox="1"/>
          <p:nvPr/>
        </p:nvSpPr>
        <p:spPr>
          <a:xfrm>
            <a:off x="1028700" y="2971639"/>
            <a:ext cx="12563958" cy="6309356"/>
          </a:xfrm>
          <a:prstGeom prst="rect">
            <a:avLst/>
          </a:prstGeom>
        </p:spPr>
        <p:txBody>
          <a:bodyPr lIns="0" tIns="0" rIns="0" bIns="0" rtlCol="0" anchor="t">
            <a:spAutoFit/>
          </a:bodyPr>
          <a:lstStyle/>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React.js – Used to build the user interface.</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HTML – Used to create the webpage structure.</a:t>
            </a:r>
          </a:p>
          <a:p>
            <a:pPr marL="604516" lvl="1" indent="-302258" algn="just">
              <a:lnSpc>
                <a:spcPts val="3919"/>
              </a:lnSpc>
              <a:buFont typeface="Arial"/>
              <a:buChar char="•"/>
            </a:pPr>
            <a:r>
              <a:rPr lang="en-US" sz="2799" dirty="0">
                <a:solidFill>
                  <a:srgbClr val="231F20"/>
                </a:solidFill>
                <a:latin typeface="TT Firs Neue"/>
                <a:ea typeface="TT Firs Neue"/>
                <a:cs typeface="TT Firs Neue"/>
                <a:sym typeface="TT Firs Neue"/>
              </a:rPr>
              <a:t>CSS – Used for design and styling.</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JavaScript – Used to add interactive features.</a:t>
            </a:r>
          </a:p>
          <a:p>
            <a:pPr marL="604516" lvl="1" indent="-302258" algn="l">
              <a:lnSpc>
                <a:spcPts val="3919"/>
              </a:lnSpc>
              <a:buFont typeface="Arial"/>
              <a:buChar char="•"/>
            </a:pPr>
            <a:r>
              <a:rPr lang="en-US" sz="2799" dirty="0" err="1">
                <a:solidFill>
                  <a:srgbClr val="231F20"/>
                </a:solidFill>
                <a:latin typeface="TT Firs Neue"/>
                <a:ea typeface="TT Firs Neue"/>
                <a:cs typeface="TT Firs Neue"/>
                <a:sym typeface="TT Firs Neue"/>
              </a:rPr>
              <a:t>FastAPI</a:t>
            </a:r>
            <a:r>
              <a:rPr lang="en-US" sz="2799" dirty="0">
                <a:solidFill>
                  <a:srgbClr val="231F20"/>
                </a:solidFill>
                <a:latin typeface="TT Firs Neue"/>
                <a:ea typeface="TT Firs Neue"/>
                <a:cs typeface="TT Firs Neue"/>
                <a:sym typeface="TT Firs Neue"/>
              </a:rPr>
              <a:t> – Used to develop the backend and REST APIs.</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MySQL / PostgreSQL – Used to store structured data.</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MongoDB – Used to store flexible data.</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REST API – Used for communication between frontend and backend.</a:t>
            </a:r>
          </a:p>
          <a:p>
            <a:pPr marL="604516" lvl="1" indent="-302258">
              <a:lnSpc>
                <a:spcPct val="100000"/>
              </a:lnSpc>
              <a:buFont typeface="Arial"/>
              <a:buChar char="•"/>
            </a:pPr>
            <a:r>
              <a:rPr lang="en-IN" sz="2800" b="1" dirty="0">
                <a:latin typeface="TT Firs Neue" panose="020B0604020202020204" charset="0"/>
              </a:rPr>
              <a:t>JWT</a:t>
            </a:r>
            <a:r>
              <a:rPr lang="en-IN" sz="2800" dirty="0">
                <a:latin typeface="TT Firs Neue" panose="020B0604020202020204" charset="0"/>
              </a:rPr>
              <a:t> – Used for </a:t>
            </a:r>
            <a:r>
              <a:rPr lang="en-IN" sz="2800" b="1" dirty="0">
                <a:latin typeface="TT Firs Neue" panose="020B0604020202020204" charset="0"/>
              </a:rPr>
              <a:t>secure user authentication</a:t>
            </a:r>
            <a:r>
              <a:rPr lang="en-IN" sz="2800" dirty="0">
                <a:latin typeface="TT Firs Neue" panose="020B0604020202020204" charset="0"/>
              </a:rPr>
              <a:t>. </a:t>
            </a:r>
            <a:endParaRPr lang="en-US" sz="2799" dirty="0">
              <a:solidFill>
                <a:srgbClr val="231F20"/>
              </a:solidFill>
              <a:latin typeface="TT Firs Neue" panose="020B0604020202020204" charset="0"/>
              <a:ea typeface="TT Firs Neue"/>
              <a:cs typeface="TT Firs Neue"/>
              <a:sym typeface="TT Firs Neue"/>
            </a:endParaRP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Git &amp; GitHub – Used for code management and version control.</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Postman – Used to test backend APIs.</a:t>
            </a:r>
          </a:p>
          <a:p>
            <a:pPr marL="604516" lvl="1" indent="-302258" algn="l">
              <a:lnSpc>
                <a:spcPts val="3919"/>
              </a:lnSpc>
              <a:buFont typeface="Arial"/>
              <a:buChar char="•"/>
            </a:pPr>
            <a:r>
              <a:rPr lang="en-US" sz="2799" dirty="0">
                <a:solidFill>
                  <a:srgbClr val="231F20"/>
                </a:solidFill>
                <a:latin typeface="TT Firs Neue"/>
                <a:ea typeface="TT Firs Neue"/>
                <a:cs typeface="TT Firs Neue"/>
                <a:sym typeface="TT Firs Neue"/>
              </a:rPr>
              <a:t>Visual Studio Code – Used for coding and development.</a:t>
            </a:r>
          </a:p>
          <a:p>
            <a:pPr algn="l">
              <a:lnSpc>
                <a:spcPts val="2800"/>
              </a:lnSpc>
            </a:pPr>
            <a:endParaRPr lang="en-US" sz="2799" dirty="0">
              <a:solidFill>
                <a:srgbClr val="231F20"/>
              </a:solidFill>
              <a:latin typeface="TT Firs Neue"/>
              <a:ea typeface="TT Firs Neue"/>
              <a:cs typeface="TT Firs Neue"/>
              <a:sym typeface="TT Firs Neue"/>
            </a:endParaRPr>
          </a:p>
        </p:txBody>
      </p:sp>
      <p:grpSp>
        <p:nvGrpSpPr>
          <p:cNvPr id="7" name="Group 7"/>
          <p:cNvGrpSpPr/>
          <p:nvPr/>
        </p:nvGrpSpPr>
        <p:grpSpPr>
          <a:xfrm>
            <a:off x="14476744" y="0"/>
            <a:ext cx="5565113" cy="672181"/>
            <a:chOff x="0" y="0"/>
            <a:chExt cx="1465709" cy="177035"/>
          </a:xfrm>
        </p:grpSpPr>
        <p:sp>
          <p:nvSpPr>
            <p:cNvPr id="8" name="Freeform 8"/>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9" name="TextBox 9"/>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10" name="Group 10"/>
          <p:cNvGrpSpPr/>
          <p:nvPr/>
        </p:nvGrpSpPr>
        <p:grpSpPr>
          <a:xfrm>
            <a:off x="-1753856" y="9614819"/>
            <a:ext cx="5565113" cy="672181"/>
            <a:chOff x="0" y="0"/>
            <a:chExt cx="1465709" cy="177035"/>
          </a:xfrm>
        </p:grpSpPr>
        <p:sp>
          <p:nvSpPr>
            <p:cNvPr id="11" name="Freeform 11"/>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B1E1E"/>
            </a:solidFill>
          </p:spPr>
        </p:sp>
        <p:sp>
          <p:nvSpPr>
            <p:cNvPr id="12" name="TextBox 12"/>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13" name="Freeform 13"/>
          <p:cNvSpPr/>
          <p:nvPr/>
        </p:nvSpPr>
        <p:spPr>
          <a:xfrm flipV="1">
            <a:off x="16358987" y="1130447"/>
            <a:ext cx="1800625" cy="1800625"/>
          </a:xfrm>
          <a:custGeom>
            <a:avLst/>
            <a:gdLst/>
            <a:ahLst/>
            <a:cxnLst/>
            <a:rect l="l" t="t" r="r" b="b"/>
            <a:pathLst>
              <a:path w="1800625" h="1800625">
                <a:moveTo>
                  <a:pt x="0" y="1800625"/>
                </a:moveTo>
                <a:lnTo>
                  <a:pt x="1800626" y="1800625"/>
                </a:lnTo>
                <a:lnTo>
                  <a:pt x="1800626" y="0"/>
                </a:lnTo>
                <a:lnTo>
                  <a:pt x="0" y="0"/>
                </a:lnTo>
                <a:lnTo>
                  <a:pt x="0" y="1800625"/>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46342" y="2065157"/>
            <a:ext cx="13252729" cy="5682249"/>
            <a:chOff x="0" y="0"/>
            <a:chExt cx="3490431" cy="1496559"/>
          </a:xfrm>
        </p:grpSpPr>
        <p:sp>
          <p:nvSpPr>
            <p:cNvPr id="3" name="Freeform 3"/>
            <p:cNvSpPr/>
            <p:nvPr/>
          </p:nvSpPr>
          <p:spPr>
            <a:xfrm>
              <a:off x="0" y="0"/>
              <a:ext cx="3490431" cy="1496559"/>
            </a:xfrm>
            <a:custGeom>
              <a:avLst/>
              <a:gdLst/>
              <a:ahLst/>
              <a:cxnLst/>
              <a:rect l="l" t="t" r="r" b="b"/>
              <a:pathLst>
                <a:path w="3490431" h="1496559">
                  <a:moveTo>
                    <a:pt x="0" y="0"/>
                  </a:moveTo>
                  <a:lnTo>
                    <a:pt x="3490431" y="0"/>
                  </a:lnTo>
                  <a:lnTo>
                    <a:pt x="3490431" y="1496559"/>
                  </a:lnTo>
                  <a:lnTo>
                    <a:pt x="0" y="1496559"/>
                  </a:lnTo>
                  <a:close/>
                </a:path>
              </a:pathLst>
            </a:custGeom>
            <a:solidFill>
              <a:srgbClr val="8B1E1E"/>
            </a:solidFill>
          </p:spPr>
        </p:sp>
        <p:sp>
          <p:nvSpPr>
            <p:cNvPr id="4" name="TextBox 4"/>
            <p:cNvSpPr txBox="1"/>
            <p:nvPr/>
          </p:nvSpPr>
          <p:spPr>
            <a:xfrm>
              <a:off x="0" y="-47625"/>
              <a:ext cx="3490431" cy="1544184"/>
            </a:xfrm>
            <a:prstGeom prst="rect">
              <a:avLst/>
            </a:prstGeom>
          </p:spPr>
          <p:txBody>
            <a:bodyPr lIns="50800" tIns="50800" rIns="50800" bIns="50800" rtlCol="0" anchor="ctr"/>
            <a:lstStyle/>
            <a:p>
              <a:pPr algn="ctr">
                <a:lnSpc>
                  <a:spcPts val="3360"/>
                </a:lnSpc>
              </a:pPr>
              <a:endParaRPr/>
            </a:p>
          </p:txBody>
        </p:sp>
      </p:grpSp>
      <p:sp>
        <p:nvSpPr>
          <p:cNvPr id="5" name="Freeform 5"/>
          <p:cNvSpPr/>
          <p:nvPr/>
        </p:nvSpPr>
        <p:spPr>
          <a:xfrm flipV="1">
            <a:off x="370373" y="432368"/>
            <a:ext cx="1800625" cy="1800625"/>
          </a:xfrm>
          <a:custGeom>
            <a:avLst/>
            <a:gdLst/>
            <a:ahLst/>
            <a:cxnLst/>
            <a:rect l="l" t="t" r="r" b="b"/>
            <a:pathLst>
              <a:path w="1800625" h="1800625">
                <a:moveTo>
                  <a:pt x="0" y="1800625"/>
                </a:moveTo>
                <a:lnTo>
                  <a:pt x="1800625" y="1800625"/>
                </a:lnTo>
                <a:lnTo>
                  <a:pt x="1800625" y="0"/>
                </a:lnTo>
                <a:lnTo>
                  <a:pt x="0" y="0"/>
                </a:lnTo>
                <a:lnTo>
                  <a:pt x="0" y="1800625"/>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003424" y="-569835"/>
            <a:ext cx="3185444" cy="3197070"/>
          </a:xfrm>
          <a:custGeom>
            <a:avLst/>
            <a:gdLst/>
            <a:ahLst/>
            <a:cxnLst/>
            <a:rect l="l" t="t" r="r" b="b"/>
            <a:pathLst>
              <a:path w="3185444" h="3197070">
                <a:moveTo>
                  <a:pt x="0" y="0"/>
                </a:moveTo>
                <a:lnTo>
                  <a:pt x="3185444" y="0"/>
                </a:lnTo>
                <a:lnTo>
                  <a:pt x="3185444" y="3197070"/>
                </a:lnTo>
                <a:lnTo>
                  <a:pt x="0" y="31970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4081227" y="8676697"/>
            <a:ext cx="2446666" cy="1330375"/>
          </a:xfrm>
          <a:custGeom>
            <a:avLst/>
            <a:gdLst/>
            <a:ahLst/>
            <a:cxnLst/>
            <a:rect l="l" t="t" r="r" b="b"/>
            <a:pathLst>
              <a:path w="2446666" h="1330375">
                <a:moveTo>
                  <a:pt x="0" y="0"/>
                </a:moveTo>
                <a:lnTo>
                  <a:pt x="2446666" y="0"/>
                </a:lnTo>
                <a:lnTo>
                  <a:pt x="2446666" y="1330375"/>
                </a:lnTo>
                <a:lnTo>
                  <a:pt x="0" y="133037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6276881" y="4173257"/>
            <a:ext cx="5069530" cy="1193164"/>
          </a:xfrm>
          <a:prstGeom prst="rect">
            <a:avLst/>
          </a:prstGeom>
        </p:spPr>
        <p:txBody>
          <a:bodyPr lIns="0" tIns="0" rIns="0" bIns="0" rtlCol="0" anchor="t">
            <a:spAutoFit/>
          </a:bodyPr>
          <a:lstStyle/>
          <a:p>
            <a:pPr algn="l">
              <a:lnSpc>
                <a:spcPts val="7599"/>
              </a:lnSpc>
            </a:pPr>
            <a:r>
              <a:rPr lang="en-US" sz="7599" spc="-417">
                <a:solidFill>
                  <a:srgbClr val="FFFFFF"/>
                </a:solidFill>
                <a:latin typeface="Heading Now 71-78"/>
                <a:ea typeface="Heading Now 71-78"/>
                <a:cs typeface="Heading Now 71-78"/>
                <a:sym typeface="Heading Now 71-78"/>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370</Words>
  <Application>Microsoft Office PowerPoint</Application>
  <PresentationFormat>Custom</PresentationFormat>
  <Paragraphs>34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TT Firs Neue</vt:lpstr>
      <vt:lpstr>TT Firs Neue Bold</vt:lpstr>
      <vt:lpstr>Heading Now 71-78</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Donation &amp; NGO Connect App</dc:title>
  <cp:lastModifiedBy>deekshitha dhatrika</cp:lastModifiedBy>
  <cp:revision>7</cp:revision>
  <dcterms:created xsi:type="dcterms:W3CDTF">2006-08-16T00:00:00Z</dcterms:created>
  <dcterms:modified xsi:type="dcterms:W3CDTF">2026-09-01T08:31:52Z</dcterms:modified>
  <dc:identifier>DAHT64Dik50</dc:identifier>
</cp:coreProperties>
</file>